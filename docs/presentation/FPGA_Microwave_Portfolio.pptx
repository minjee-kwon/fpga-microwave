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f010f26b7a40ed" /><Relationship Type="http://schemas.openxmlformats.org/officeDocument/2006/relationships/extended-properties" Target="/docProps/app.xml" Id="R11280ebc512e404a" /><Relationship Type="http://schemas.openxmlformats.org/officeDocument/2006/relationships/officeDocument" Target="/ppt/presentation.xml" Id="R361237c63ca34f3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7250641a729470b"/>
  </p:sldMasterIdLst>
  <p:notesMasterIdLst>
    <p:notesMasterId xmlns:r="http://schemas.openxmlformats.org/officeDocument/2006/relationships" r:id="Ree574d3067904303"/>
  </p:notesMasterIdLst>
  <p:sldIdLst>
    <p:sldId xmlns:r="http://schemas.openxmlformats.org/officeDocument/2006/relationships" id="256" r:id="Rcd5fc94772304ecb"/>
    <p:sldId xmlns:r="http://schemas.openxmlformats.org/officeDocument/2006/relationships" id="257" r:id="R5c819591eb3040c9"/>
    <p:sldId xmlns:r="http://schemas.openxmlformats.org/officeDocument/2006/relationships" id="258" r:id="R7a5920b38bb84e22"/>
    <p:sldId xmlns:r="http://schemas.openxmlformats.org/officeDocument/2006/relationships" id="259" r:id="R1ae1747d1cf64219"/>
    <p:sldId xmlns:r="http://schemas.openxmlformats.org/officeDocument/2006/relationships" id="260" r:id="R6c407734ad2144eb"/>
    <p:sldId xmlns:r="http://schemas.openxmlformats.org/officeDocument/2006/relationships" id="261" r:id="R7f7e7509840c4fec"/>
    <p:sldId xmlns:r="http://schemas.openxmlformats.org/officeDocument/2006/relationships" id="262" r:id="R7ce1b0ffa7c24f09"/>
    <p:sldId xmlns:r="http://schemas.openxmlformats.org/officeDocument/2006/relationships" id="263" r:id="Rabb3c3165f3c4a4d"/>
    <p:sldId xmlns:r="http://schemas.openxmlformats.org/officeDocument/2006/relationships" id="264" r:id="R4a0d839f8fab49b8"/>
    <p:sldId xmlns:r="http://schemas.openxmlformats.org/officeDocument/2006/relationships" id="265" r:id="R3e6b169540a14fd6"/>
    <p:sldId xmlns:r="http://schemas.openxmlformats.org/officeDocument/2006/relationships" id="266" r:id="R24b3d947f9234722"/>
    <p:sldId xmlns:r="http://schemas.openxmlformats.org/officeDocument/2006/relationships" id="267" r:id="Rc5b102787c3943bd"/>
    <p:sldId xmlns:r="http://schemas.openxmlformats.org/officeDocument/2006/relationships" id="268" r:id="Rcb71176497fe4b58"/>
    <p:sldId xmlns:r="http://schemas.openxmlformats.org/officeDocument/2006/relationships" id="269" r:id="Rc9f69362e718418f"/>
    <p:sldId xmlns:r="http://schemas.openxmlformats.org/officeDocument/2006/relationships" id="270" r:id="R911a2e742aa84047"/>
    <p:sldId xmlns:r="http://schemas.openxmlformats.org/officeDocument/2006/relationships" id="271" r:id="Rf77e6ab5a3254f92"/>
    <p:sldId xmlns:r="http://schemas.openxmlformats.org/officeDocument/2006/relationships" id="272" r:id="R9b2a82eba44241f3"/>
  </p:sldIdLst>
  <p:sldSz cx="18288000" cy="10287000"/>
  <p:notesSz cx="6858000" cy="9144000"/>
  <p:embeddedFontLst>
    <p:embeddedFont>
      <p:font typeface="210 도시락"/>
      <p:regular xmlns:r="http://schemas.openxmlformats.org/officeDocument/2006/relationships" r:id="Rc453e8bc122d49e4"/>
    </p:embeddedFont>
    <p:embeddedFont>
      <p:font typeface="Nanum Square Ultra-Bold"/>
      <p:regular xmlns:r="http://schemas.openxmlformats.org/officeDocument/2006/relationships" r:id="R5390679efab24d55"/>
    </p:embeddedFont>
    <p:embeddedFont>
      <p:font typeface="Canva Sans Bold"/>
      <p:regular xmlns:r="http://schemas.openxmlformats.org/officeDocument/2006/relationships" r:id="R9a8dc39495f34cc3"/>
    </p:embeddedFont>
    <p:embeddedFont>
      <p:font typeface="Nanum Square Bold"/>
      <p:regular xmlns:r="http://schemas.openxmlformats.org/officeDocument/2006/relationships" r:id="Rff9759e8638b435c"/>
    </p:embeddedFont>
    <p:embeddedFont>
      <p:font typeface="Nanum Square"/>
      <p:regular xmlns:r="http://schemas.openxmlformats.org/officeDocument/2006/relationships" r:id="R7e3a33de530a4738"/>
    </p:embeddedFont>
    <p:embeddedFont>
      <p:font typeface="Canva Sans"/>
      <p:regular xmlns:r="http://schemas.openxmlformats.org/officeDocument/2006/relationships" r:id="R2d36af9495774e8d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f50530871e40b4" /><Relationship Type="http://schemas.openxmlformats.org/officeDocument/2006/relationships/slideMaster" Target="/ppt/slideMasters/slideMaster1.xml" Id="R17250641a729470b" /><Relationship Type="http://schemas.openxmlformats.org/officeDocument/2006/relationships/notesMaster" Target="/ppt/notesMasters/notesMaster1.xml" Id="Ree574d3067904303" /><Relationship Type="http://schemas.openxmlformats.org/officeDocument/2006/relationships/presProps" Target="/ppt/presProps.xml" Id="R091bcf5458b44f25" /><Relationship Type="http://schemas.openxmlformats.org/officeDocument/2006/relationships/viewProps" Target="/ppt/viewProps.xml" Id="R09fa9ac56a124002" /><Relationship Type="http://schemas.openxmlformats.org/officeDocument/2006/relationships/tableStyles" Target="/ppt/tableStyles.xml" Id="R803c0fd8dac14f3e" /><Relationship Type="http://schemas.openxmlformats.org/officeDocument/2006/relationships/font" Target="/ppt/fonts/font.dat" Id="Rc453e8bc122d49e4" /><Relationship Type="http://schemas.openxmlformats.org/officeDocument/2006/relationships/font" Target="/ppt/fonts/font2.dat" Id="R5390679efab24d55" /><Relationship Type="http://schemas.openxmlformats.org/officeDocument/2006/relationships/font" Target="/ppt/fonts/font3.dat" Id="R9a8dc39495f34cc3" /><Relationship Type="http://schemas.openxmlformats.org/officeDocument/2006/relationships/font" Target="/ppt/fonts/font4.dat" Id="Rff9759e8638b435c" /><Relationship Type="http://schemas.openxmlformats.org/officeDocument/2006/relationships/font" Target="/ppt/fonts/font5.dat" Id="R7e3a33de530a4738" /><Relationship Type="http://schemas.openxmlformats.org/officeDocument/2006/relationships/font" Target="/ppt/fonts/font6.dat" Id="R2d36af9495774e8d" /><Relationship Type="http://schemas.openxmlformats.org/officeDocument/2006/relationships/slide" Target="/ppt/slides/slide1.xml" Id="Rcd5fc94772304ecb" /><Relationship Type="http://schemas.openxmlformats.org/officeDocument/2006/relationships/slide" Target="/ppt/slides/slide2.xml" Id="R5c819591eb3040c9" /><Relationship Type="http://schemas.openxmlformats.org/officeDocument/2006/relationships/slide" Target="/ppt/slides/slide3.xml" Id="R7a5920b38bb84e22" /><Relationship Type="http://schemas.openxmlformats.org/officeDocument/2006/relationships/slide" Target="/ppt/slides/slide4.xml" Id="R1ae1747d1cf64219" /><Relationship Type="http://schemas.openxmlformats.org/officeDocument/2006/relationships/slide" Target="/ppt/slides/slide5.xml" Id="R6c407734ad2144eb" /><Relationship Type="http://schemas.openxmlformats.org/officeDocument/2006/relationships/slide" Target="/ppt/slides/slide6.xml" Id="R7f7e7509840c4fec" /><Relationship Type="http://schemas.openxmlformats.org/officeDocument/2006/relationships/slide" Target="/ppt/slides/slide7.xml" Id="R7ce1b0ffa7c24f09" /><Relationship Type="http://schemas.openxmlformats.org/officeDocument/2006/relationships/slide" Target="/ppt/slides/slide8.xml" Id="Rabb3c3165f3c4a4d" /><Relationship Type="http://schemas.openxmlformats.org/officeDocument/2006/relationships/slide" Target="/ppt/slides/slide9.xml" Id="R4a0d839f8fab49b8" /><Relationship Type="http://schemas.openxmlformats.org/officeDocument/2006/relationships/slide" Target="/ppt/slides/slide10.xml" Id="R3e6b169540a14fd6" /><Relationship Type="http://schemas.openxmlformats.org/officeDocument/2006/relationships/slide" Target="/ppt/slides/slide11.xml" Id="R24b3d947f9234722" /><Relationship Type="http://schemas.openxmlformats.org/officeDocument/2006/relationships/slide" Target="/ppt/slides/slide12.xml" Id="Rc5b102787c3943bd" /><Relationship Type="http://schemas.openxmlformats.org/officeDocument/2006/relationships/slide" Target="/ppt/slides/slide13.xml" Id="Rcb71176497fe4b58" /><Relationship Type="http://schemas.openxmlformats.org/officeDocument/2006/relationships/slide" Target="/ppt/slides/slide14.xml" Id="Rc9f69362e718418f" /><Relationship Type="http://schemas.openxmlformats.org/officeDocument/2006/relationships/slide" Target="/ppt/slides/slide15.xml" Id="R911a2e742aa84047" /><Relationship Type="http://schemas.openxmlformats.org/officeDocument/2006/relationships/slide" Target="/ppt/slides/slide16.xml" Id="Rf77e6ab5a3254f92" /><Relationship Type="http://schemas.openxmlformats.org/officeDocument/2006/relationships/slide" Target="/ppt/slides/slide17.xml" Id="R9b2a82eba44241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8e26b3c964a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ca208ad9eb48f4" /><Relationship Type="http://schemas.openxmlformats.org/officeDocument/2006/relationships/notesMaster" Target="/ppt/notesMasters/notesMaster1.xml" Id="R2e051181f42b43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ae62afaf2245b6" /><Relationship Type="http://schemas.openxmlformats.org/officeDocument/2006/relationships/notesMaster" Target="/ppt/notesMasters/notesMaster1.xml" Id="R77535ad6d9be43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65d287eab046cf" /><Relationship Type="http://schemas.openxmlformats.org/officeDocument/2006/relationships/notesMaster" Target="/ppt/notesMasters/notesMaster1.xml" Id="R4ac5f4d04efd4a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3919b67fa3468b" /><Relationship Type="http://schemas.openxmlformats.org/officeDocument/2006/relationships/notesMaster" Target="/ppt/notesMasters/notesMaster1.xml" Id="Rc6c11271175a42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947d0210c0412e" /><Relationship Type="http://schemas.openxmlformats.org/officeDocument/2006/relationships/notesMaster" Target="/ppt/notesMasters/notesMaster1.xml" Id="R1a0e403ae9f742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efffbeb5e84515" /><Relationship Type="http://schemas.openxmlformats.org/officeDocument/2006/relationships/notesMaster" Target="/ppt/notesMasters/notesMaster1.xml" Id="R3ae026f5948f4e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c5db5987384f62" /><Relationship Type="http://schemas.openxmlformats.org/officeDocument/2006/relationships/notesMaster" Target="/ppt/notesMasters/notesMaster1.xml" Id="Rfab1c953119546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a544f82e3a45d0" /><Relationship Type="http://schemas.openxmlformats.org/officeDocument/2006/relationships/notesMaster" Target="/ppt/notesMasters/notesMaster1.xml" Id="R17aa57ff533549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0a74b470c74c54" /><Relationship Type="http://schemas.openxmlformats.org/officeDocument/2006/relationships/notesMaster" Target="/ppt/notesMasters/notesMaster1.xml" Id="R5617bd0c85e347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0e2bf8bbc54688" /><Relationship Type="http://schemas.openxmlformats.org/officeDocument/2006/relationships/notesMaster" Target="/ppt/notesMasters/notesMaster1.xml" Id="R62c41d5ddedc4d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6abb77556d433b" /><Relationship Type="http://schemas.openxmlformats.org/officeDocument/2006/relationships/notesMaster" Target="/ppt/notesMasters/notesMaster1.xml" Id="Rda2a32e31d8c4c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62dd60500345f7" /><Relationship Type="http://schemas.openxmlformats.org/officeDocument/2006/relationships/notesMaster" Target="/ppt/notesMasters/notesMaster1.xml" Id="R075f0a33340b4e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0fb64102b44609" /><Relationship Type="http://schemas.openxmlformats.org/officeDocument/2006/relationships/notesMaster" Target="/ppt/notesMasters/notesMaster1.xml" Id="Rfa7bfbb2eb5f4a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39b470f7394ccf" /><Relationship Type="http://schemas.openxmlformats.org/officeDocument/2006/relationships/notesMaster" Target="/ppt/notesMasters/notesMaster1.xml" Id="Rf578e401bb814f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682e95c84b4887" /><Relationship Type="http://schemas.openxmlformats.org/officeDocument/2006/relationships/notesMaster" Target="/ppt/notesMasters/notesMaster1.xml" Id="R386e22fecb2c4e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3cea5e8f824684" /><Relationship Type="http://schemas.openxmlformats.org/officeDocument/2006/relationships/notesMaster" Target="/ppt/notesMasters/notesMaster1.xml" Id="R7ee9434248044b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176f73fb604393" /><Relationship Type="http://schemas.openxmlformats.org/officeDocument/2006/relationships/notesMaster" Target="/ppt/notesMasters/notesMaster1.xml" Id="R7f49c441415741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실제 영상. 원본 방향과 전체 장치를 유지한 가로 프레임. 0~7.9초 문 개폐 버튼/서보 암, 8~14.9초 로터리/FND, 15초 이후 모터/FND 자막. 모든 모드의 정량 검증은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제공된 오류 및 XDC 수정 전후: docs/evidence/io_placer_error.txt, xdc_before_after.txt. 오류 표만으로 원인을 단정하지 않고 코드와 제약을 대조함.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개발 중 리포트: docs/evidence/development_drc.txt, development_timing.txt. 현재 제약 정적 점검: pin_audit.txt. 리포트는 2026-10-28 14:50 버전이며 최종 소스 재검증 결과와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확인: 이제 되는 거 같아 내가 서버 모터 바꿨어. 실제 사용자 영상 초반 문 개폐 버튼/서보 암. docs/TROUBLESHOOTING.md의 2번 항목 및 servo_controller.v 참고.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근거: src/motor_controller.v. 원본·수정 코드 비교: docs/evidence/fnd_before_after.txt. 모터 출력 전압 문제가 코드만으로 해결됐다고 단정하지 않음. FND 항목은 관찰된 고장 원인 확정보다 통합 구조 개선.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RTL 및 실제 사진·영상. https://github.com/Minjee-Kwon/fpga-microwave</a:t>
            </a:r>
          </a:p>
          <a:p xmlns:a="http://schemas.openxmlformats.org/drawingml/2006/main">
            <a:r>
              <a:t>검증 대기 항목은 실제 PASS로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f8be4168548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defdf530c40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504e55d1e47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a761cd5e946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9ded74d7d43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a54dfa29748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a6a17986148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e97595d3e46b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cd6ae02a346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c842d4e2a4cd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5dcfb2d62470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3EF982-BC16-4C2C-8787-D60298EAB3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F87D3B4-6515-4175-B4AC-DD6E4B497A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EA5D90-A9D5-40F5-94E0-F93E2DBEF0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44104A-FF28-4F69-88E9-2118866AFB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FF5A02-54A9-4391-9FD3-FA46CCDEE1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FF7BBB-8391-4421-AC05-A42CF312D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587532-3337-47D9-9F52-C163A218D1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022D0C-54DA-45F1-95AC-551283D6F9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73D22D-B4CC-46FF-A153-E1ACC42F9C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F9A6A2-715D-446E-ADA3-6415476794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6543DF-280E-40F4-996E-F12E61A7E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B9A7CA-FDA1-4CC0-B667-4ADFB45246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072E6D-E5C3-428C-A6AD-C34580B213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9E844F-E4E5-4F03-8A7C-EA90971328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98803C-A2D3-49D5-8271-84C9CDE28B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759CE7-407C-49F5-B643-AEABDA47A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BFF541-CDD9-46EE-AE8D-D8246F2750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CFADC19-A60D-45DE-82A6-7D669082C1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C935A6-7BAD-4C07-934E-B4B61C5A62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E63F49-22B2-48E7-83C9-461F52B9D7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90B8EF3-D246-4E48-8BDE-4EBBDEC869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9FC6F9-5F13-44B5-9141-CF386C0B1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35A0ED2-1AFD-42F2-9C94-FA2C7BFEAC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0E4015A-0EC3-47FF-A772-11E472997A2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BB0DA55-9972-49CD-ADBD-4E8C9BBCBCF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C99E850-6E3D-4859-A3F6-1246B94A915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71F5597-3E1C-4266-8E7F-DCDA693843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EAE01EA-4786-443A-AF4D-86CFAAF9E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A08B1F0-76DD-490A-A636-1560D9E25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F4F699-73FF-49AA-A817-C0C542E7F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0520928-8555-4D63-A23F-B69CAADD11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BB3B36B-5698-4603-962F-AA9CE86ACF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04D1222-2200-44C6-A22E-A94B807E2F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A3F7E2C-5BC0-43E2-A62B-A7A2C34079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F17E31A-739B-4EB2-8E80-09E0C59AC9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E295D5-7F4C-420A-9685-9FC044B1B8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C5B625-631D-420B-BF77-80EA63C12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0EB042-41AF-4149-8AD8-D2C07ECF50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DF486E-7657-4058-B62A-E67C03255A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BF0ADB6-8A58-41D6-BE85-F8565D3EF9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43243C-913E-4B32-ADE4-D72AE15FE1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EE6CFE3-5B66-499B-B512-0E7BA8B6DC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4CEB23-89A9-4594-8DA1-395E7E463E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83DEA34-BB81-4C90-84AA-F7EBA561D02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7941C43-F2EE-4519-A731-C0350A76F1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77D51BF-3EB5-4903-A167-0F037C96BD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D7EB371-8778-487F-BB0C-C58B004564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4E8C93-E650-4CFC-8362-17D43CA264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81E96B-F713-4FD7-B23F-600ECB4ED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C77279-420D-4874-BBC3-501DEA5FC8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B32F69-127F-414C-9A6E-6C61274355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B3651B-EC79-4B68-8591-960667B365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D760D5-EEAC-4FA9-8FE0-000D612A74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D7AD4C6-878F-4E14-8838-F7DFB97B5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8F6455-F10E-4B30-95D0-D783642804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54699E-895E-43F0-AB40-6A57E130F5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B8ABC0-9A55-4D22-B308-D70CD3F69F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D20B8-BDE4-4762-942C-67F9E36741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ac251015af4ab3" /><Relationship Type="http://schemas.openxmlformats.org/officeDocument/2006/relationships/slideLayout" Target="/ppt/slideLayouts/slideLayout1.xml" Id="R540e0acf837142e6" /><Relationship Type="http://schemas.openxmlformats.org/officeDocument/2006/relationships/slideLayout" Target="/ppt/slideLayouts/slideLayout2.xml" Id="Ra7e3c20bf07941e3" /><Relationship Type="http://schemas.openxmlformats.org/officeDocument/2006/relationships/slideLayout" Target="/ppt/slideLayouts/slideLayout3.xml" Id="Rb98ebc2899f24258" /><Relationship Type="http://schemas.openxmlformats.org/officeDocument/2006/relationships/slideLayout" Target="/ppt/slideLayouts/slideLayout4.xml" Id="R95809ae9797947a9" /><Relationship Type="http://schemas.openxmlformats.org/officeDocument/2006/relationships/slideLayout" Target="/ppt/slideLayouts/slideLayout5.xml" Id="R743a48338d3445b5" /><Relationship Type="http://schemas.openxmlformats.org/officeDocument/2006/relationships/slideLayout" Target="/ppt/slideLayouts/slideLayout6.xml" Id="R28d688a8b5da4b66" /><Relationship Type="http://schemas.openxmlformats.org/officeDocument/2006/relationships/slideLayout" Target="/ppt/slideLayouts/slideLayout7.xml" Id="R967d0d6f8ec54edc" /><Relationship Type="http://schemas.openxmlformats.org/officeDocument/2006/relationships/slideLayout" Target="/ppt/slideLayouts/slideLayout8.xml" Id="Rbf77f8a31a4c4d67" /><Relationship Type="http://schemas.openxmlformats.org/officeDocument/2006/relationships/slideLayout" Target="/ppt/slideLayouts/slideLayout9.xml" Id="R86b06dfe01b847fd" /><Relationship Type="http://schemas.openxmlformats.org/officeDocument/2006/relationships/slideLayout" Target="/ppt/slideLayouts/slideLayout10.xml" Id="R07d45db781564282" /><Relationship Type="http://schemas.openxmlformats.org/officeDocument/2006/relationships/slideLayout" Target="/ppt/slideLayouts/slideLayout11.xml" Id="Rdc2a85ebdeef46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9DB1C50-876B-468D-A911-DCF6CF561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CE0A6C-CDA1-4F29-953F-E2ECDEC597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F38B18-35BF-4F7B-B3AD-12E3C3B4C6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FC21F7-4749-497D-B4CC-A2B39CCA6B1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362B59-3E66-428C-B997-CA533FAF4E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0e0acf837142e6"/>
    <p:sldLayoutId xmlns:r="http://schemas.openxmlformats.org/officeDocument/2006/relationships" id="2147483650" r:id="Ra7e3c20bf07941e3"/>
    <p:sldLayoutId xmlns:r="http://schemas.openxmlformats.org/officeDocument/2006/relationships" id="2147483651" r:id="Rb98ebc2899f24258"/>
    <p:sldLayoutId xmlns:r="http://schemas.openxmlformats.org/officeDocument/2006/relationships" id="2147483652" r:id="R95809ae9797947a9"/>
    <p:sldLayoutId xmlns:r="http://schemas.openxmlformats.org/officeDocument/2006/relationships" id="2147483653" r:id="R743a48338d3445b5"/>
    <p:sldLayoutId xmlns:r="http://schemas.openxmlformats.org/officeDocument/2006/relationships" id="2147483654" r:id="R28d688a8b5da4b66"/>
    <p:sldLayoutId xmlns:r="http://schemas.openxmlformats.org/officeDocument/2006/relationships" id="2147483655" r:id="R967d0d6f8ec54edc"/>
    <p:sldLayoutId xmlns:r="http://schemas.openxmlformats.org/officeDocument/2006/relationships" id="2147483656" r:id="Rbf77f8a31a4c4d67"/>
    <p:sldLayoutId xmlns:r="http://schemas.openxmlformats.org/officeDocument/2006/relationships" id="2147483657" r:id="R86b06dfe01b847fd"/>
    <p:sldLayoutId xmlns:r="http://schemas.openxmlformats.org/officeDocument/2006/relationships" id="2147483658" r:id="R07d45db781564282"/>
    <p:sldLayoutId xmlns:r="http://schemas.openxmlformats.org/officeDocument/2006/relationships" id="2147483659" r:id="Rdc2a85ebdeef4635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1940aae8e4460b" /><Relationship Type="http://schemas.openxmlformats.org/officeDocument/2006/relationships/image" Target="/ppt/media/image.png" Id="Rd4f062af8b8244b9" /><Relationship Type="http://schemas.openxmlformats.org/officeDocument/2006/relationships/image" Target="/ppt/media/image.svg" Id="R72e6e2c2cc964c53" /><Relationship Type="http://schemas.openxmlformats.org/officeDocument/2006/relationships/notesSlide" Target="/ppt/notesSlides/notesSlide1.xml" Id="R0cdbc6665ed64b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97aa1b71e64e87" /><Relationship Type="http://schemas.openxmlformats.org/officeDocument/2006/relationships/image" Target="/ppt/media/image.png" Id="R1126458395a94927" /><Relationship Type="http://schemas.openxmlformats.org/officeDocument/2006/relationships/image" Target="/ppt/media/image.svg" Id="R9356db1a921f4a38" /><Relationship Type="http://schemas.openxmlformats.org/officeDocument/2006/relationships/notesSlide" Target="/ppt/notesSlides/notesSlide2.xml" Id="R10a5773bbf1644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b899a74f7a4011" /><Relationship Type="http://schemas.openxmlformats.org/officeDocument/2006/relationships/image" Target="/ppt/media/image.png" Id="Rceb62a6c42b146fa" /><Relationship Type="http://schemas.openxmlformats.org/officeDocument/2006/relationships/image" Target="/ppt/media/image.svg" Id="Rec48da6c298d4d30" /><Relationship Type="http://schemas.openxmlformats.org/officeDocument/2006/relationships/image" Target="/ppt/media/image.jpeg" Id="R2722fde8966b4133" /><Relationship Type="http://schemas.openxmlformats.org/officeDocument/2006/relationships/notesSlide" Target="/ppt/notesSlides/notesSlide3.xml" Id="Rdf31c48a6eca46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249aa1afd74c12" /><Relationship Type="http://schemas.openxmlformats.org/officeDocument/2006/relationships/image" Target="/ppt/media/image.png" Id="Reac425d99b6d43f9" /><Relationship Type="http://schemas.openxmlformats.org/officeDocument/2006/relationships/image" Target="/ppt/media/image.svg" Id="Ra0d5b039d90e440c" /><Relationship Type="http://schemas.openxmlformats.org/officeDocument/2006/relationships/notesSlide" Target="/ppt/notesSlides/notesSlide4.xml" Id="R2afa47598eb843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86ee937d5342dc" /><Relationship Type="http://schemas.openxmlformats.org/officeDocument/2006/relationships/image" Target="/ppt/media/image.png" Id="Rbee149e9b4ca48d7" /><Relationship Type="http://schemas.openxmlformats.org/officeDocument/2006/relationships/image" Target="/ppt/media/image.svg" Id="R2ae70f77ffcc4012" /><Relationship Type="http://schemas.openxmlformats.org/officeDocument/2006/relationships/notesSlide" Target="/ppt/notesSlides/notesSlide5.xml" Id="Rc50a3c88ef1b49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e1463d9fff451b" /><Relationship Type="http://schemas.openxmlformats.org/officeDocument/2006/relationships/image" Target="/ppt/media/image.png" Id="R4fb48acae7014ec4" /><Relationship Type="http://schemas.openxmlformats.org/officeDocument/2006/relationships/image" Target="/ppt/media/image.svg" Id="R79c878e906ee4d60" /><Relationship Type="http://schemas.openxmlformats.org/officeDocument/2006/relationships/notesSlide" Target="/ppt/notesSlides/notesSlide6.xml" Id="R30ba8da14f064b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48eabc94ae4ee7" /><Relationship Type="http://schemas.openxmlformats.org/officeDocument/2006/relationships/image" Target="/ppt/media/image.png" Id="Rd7231ebd78e14355" /><Relationship Type="http://schemas.openxmlformats.org/officeDocument/2006/relationships/image" Target="/ppt/media/image.svg" Id="Rd950f427dd974850" /><Relationship Type="http://schemas.openxmlformats.org/officeDocument/2006/relationships/notesSlide" Target="/ppt/notesSlides/notesSlide7.xml" Id="R9455c879414e42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23fbe88827496c" /><Relationship Type="http://schemas.openxmlformats.org/officeDocument/2006/relationships/image" Target="/ppt/media/image.png" Id="Rf4d6041457204570" /><Relationship Type="http://schemas.openxmlformats.org/officeDocument/2006/relationships/image" Target="/ppt/media/image.svg" Id="R41d2b92b87614356" /><Relationship Type="http://schemas.openxmlformats.org/officeDocument/2006/relationships/notesSlide" Target="/ppt/notesSlides/notesSlide8.xml" Id="Ra666cb4265354a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c0c6de14e5428b" /><Relationship Type="http://schemas.openxmlformats.org/officeDocument/2006/relationships/image" Target="/ppt/media/image.png" Id="R5f69abcc50a64ed8" /><Relationship Type="http://schemas.openxmlformats.org/officeDocument/2006/relationships/image" Target="/ppt/media/image.svg" Id="Rf60095713f344a5f" /><Relationship Type="http://schemas.openxmlformats.org/officeDocument/2006/relationships/notesSlide" Target="/ppt/notesSlides/notesSlide9.xml" Id="R096fc9902e284e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0831359a334a97" /><Relationship Type="http://schemas.openxmlformats.org/officeDocument/2006/relationships/image" Target="/ppt/media/image.png" Id="R01730340e1424602" /><Relationship Type="http://schemas.openxmlformats.org/officeDocument/2006/relationships/image" Target="/ppt/media/image.svg" Id="R8c4350e3a495425b" /><Relationship Type="http://schemas.openxmlformats.org/officeDocument/2006/relationships/notesSlide" Target="/ppt/notesSlides/notesSlide10.xml" Id="R32e6dcddda7f47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aae353f3ad4574" /><Relationship Type="http://schemas.openxmlformats.org/officeDocument/2006/relationships/image" Target="/ppt/media/image.png" Id="R497dbd2ab73b408b" /><Relationship Type="http://schemas.openxmlformats.org/officeDocument/2006/relationships/image" Target="/ppt/media/image.svg" Id="R9a03cca5ebdd4c21" /><Relationship Type="http://schemas.openxmlformats.org/officeDocument/2006/relationships/notesSlide" Target="/ppt/notesSlides/notesSlide11.xml" Id="R2197f8cfdbd84418" /></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78a37250a4a4f53" /><ns0:Relationship Type="http://schemas.openxmlformats.org/officeDocument/2006/relationships/image" Target="/ppt/media/image.png" Id="R6082a2b89c1547e6" /><ns0:Relationship Type="http://schemas.openxmlformats.org/officeDocument/2006/relationships/image" Target="/ppt/media/image.svg" Id="Reded1d1f8ff9406f" /><ns0:Relationship Type="http://schemas.openxmlformats.org/officeDocument/2006/relationships/image" Target="/ppt/media/image2.jpeg" Id="Rd251352073c544f2" /><ns0:Relationship Type="http://schemas.openxmlformats.org/officeDocument/2006/relationships/hyperlink" Target="https://github.com/Minjee-Kwon/fpga-microwave/blob/main/docs/media/microwave_demo_landscape.mp4" TargetMode="External" Id="Rc9c05b51dba04ffe" /><ns0:Relationship Type="http://schemas.openxmlformats.org/officeDocument/2006/relationships/notesSlide" Target="/ppt/notesSlides/notesSlide12.xml" Id="R84247ae468f44179" /><ns0:Relationship Id="rIdDemoVideo" Type="http://schemas.openxmlformats.org/officeDocument/2006/relationships/video" Target="../media/microwave_demo_landscape.mp4" /><ns0:Relationship Id="rIdDemoMedia" Type="http://schemas.microsoft.com/office/2007/relationships/media" Target="../media/microwave_demo_landscape.mp4" /></ns0: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424c20de6843e8" /><Relationship Type="http://schemas.openxmlformats.org/officeDocument/2006/relationships/image" Target="/ppt/media/image.png" Id="R03aefd2496e6449f" /><Relationship Type="http://schemas.openxmlformats.org/officeDocument/2006/relationships/image" Target="/ppt/media/image.svg" Id="R6e69279d626f494b" /><Relationship Type="http://schemas.openxmlformats.org/officeDocument/2006/relationships/notesSlide" Target="/ppt/notesSlides/notesSlide13.xml" Id="Rcbb7f89ac0ba47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c97aa75a664ccd" /><Relationship Type="http://schemas.openxmlformats.org/officeDocument/2006/relationships/image" Target="/ppt/media/image.png" Id="Re448cd7aedbb449c" /><Relationship Type="http://schemas.openxmlformats.org/officeDocument/2006/relationships/image" Target="/ppt/media/image.svg" Id="R1384dafb2cee48d9" /><Relationship Type="http://schemas.openxmlformats.org/officeDocument/2006/relationships/notesSlide" Target="/ppt/notesSlides/notesSlide14.xml" Id="Rf2b41b9142744f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4e2fd78f664f2f" /><Relationship Type="http://schemas.openxmlformats.org/officeDocument/2006/relationships/image" Target="/ppt/media/image.png" Id="R8517509c3b204b20" /><Relationship Type="http://schemas.openxmlformats.org/officeDocument/2006/relationships/image" Target="/ppt/media/image.svg" Id="R3cb0e996dcca44b7" /><Relationship Type="http://schemas.openxmlformats.org/officeDocument/2006/relationships/notesSlide" Target="/ppt/notesSlides/notesSlide15.xml" Id="R011bff71024949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403352841f4e1b" /><Relationship Type="http://schemas.openxmlformats.org/officeDocument/2006/relationships/image" Target="/ppt/media/image.png" Id="Rb4f79bfd083c42f6" /><Relationship Type="http://schemas.openxmlformats.org/officeDocument/2006/relationships/image" Target="/ppt/media/image.svg" Id="R7974fe499a1448d5" /><Relationship Type="http://schemas.openxmlformats.org/officeDocument/2006/relationships/notesSlide" Target="/ppt/notesSlides/notesSlide16.xml" Id="Ra9e78c53d9bd42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c4d9c67ebf4c45" /><Relationship Type="http://schemas.openxmlformats.org/officeDocument/2006/relationships/image" Target="/ppt/media/image.png" Id="Reb6e1cce950f4d4b" /><Relationship Type="http://schemas.openxmlformats.org/officeDocument/2006/relationships/image" Target="/ppt/media/image.svg" Id="Rf3aacbf5dbde4fca" /><Relationship Type="http://schemas.openxmlformats.org/officeDocument/2006/relationships/hyperlink" Target="https://github.com/Minjee-Kwon/fpga-microwave" TargetMode="External" Id="R47f87520bf694920" /><Relationship Type="http://schemas.openxmlformats.org/officeDocument/2006/relationships/notesSlide" Target="/ppt/notesSlides/notesSlide17.xml" Id="R7a443fb8901242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A8A1D84-4988-4102-ACBB-FC47CB43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2097F50-1F5C-4B8D-BA7B-B858E63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9A50700-7800-4F8F-B654-50A9ABF9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781" y="4209103"/>
            <a:ext cx="10400437" cy="33482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ctr">
              <a:defRPr sz="10575">
                <a:latin typeface="210 도시락"/>
                <a:ea typeface="210 도시락"/>
                <a:cs typeface="210 도시락"/>
              </a:defRPr>
            </a:defPPr>
            <a:lvl1pPr algn="ctr">
              <a:defRPr sz="10575">
                <a:latin typeface="210 도시락"/>
                <a:ea typeface="210 도시락"/>
                <a:cs typeface="210 도시락"/>
              </a:defRPr>
            </a:lvl1pPr>
            <a:lvl2pPr algn="ctr">
              <a:defRPr sz="10575">
                <a:latin typeface="210 도시락"/>
                <a:ea typeface="210 도시락"/>
                <a:cs typeface="210 도시락"/>
              </a:defRPr>
            </a:lvl2pPr>
            <a:lvl3pPr algn="ctr">
              <a:defRPr sz="10575">
                <a:latin typeface="210 도시락"/>
                <a:ea typeface="210 도시락"/>
                <a:cs typeface="210 도시락"/>
              </a:defRPr>
            </a:lvl3pPr>
            <a:lvl4pPr algn="ctr">
              <a:defRPr sz="10575">
                <a:latin typeface="210 도시락"/>
                <a:ea typeface="210 도시락"/>
                <a:cs typeface="210 도시락"/>
              </a:defRPr>
            </a:lvl4pPr>
            <a:lvl5pPr algn="ctr">
              <a:defRPr sz="10575">
                <a:latin typeface="210 도시락"/>
                <a:ea typeface="210 도시락"/>
                <a:cs typeface="210 도시락"/>
              </a:defRPr>
            </a:lvl5pPr>
            <a:lvl6pPr algn="ctr">
              <a:defRPr sz="10575">
                <a:latin typeface="210 도시락"/>
                <a:ea typeface="210 도시락"/>
                <a:cs typeface="210 도시락"/>
              </a:defRPr>
            </a:lvl6pPr>
            <a:lvl7pPr algn="ctr">
              <a:defRPr sz="10575">
                <a:latin typeface="210 도시락"/>
                <a:ea typeface="210 도시락"/>
                <a:cs typeface="210 도시락"/>
              </a:defRPr>
            </a:lvl7pPr>
            <a:lvl8pPr algn="ctr">
              <a:defRPr sz="10575">
                <a:latin typeface="210 도시락"/>
                <a:ea typeface="210 도시락"/>
                <a:cs typeface="210 도시락"/>
              </a:defRPr>
            </a:lvl8pPr>
            <a:lvl9pPr algn="ctr">
              <a:defRPr sz="10575"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marL="0" lvl="0" indent="0" algn="ctr">
              <a:lnSpc>
                <a:spcPts val="13182"/>
              </a:lnSpc>
              <a:spcBef>
                <a:spcPct val="0"/>
              </a:spcBef>
              <a:buNone/>
              <a:defRPr sz="10575">
                <a:latin typeface="210 도시락"/>
                <a:ea typeface="210 도시락"/>
                <a:cs typeface="210 도시락"/>
              </a:defRPr>
            </a:pPr>
            <a:r>
              <a:rPr sz="10575" u="none" strike="noStrike" spc="-395">
                <a:solidFill>
                  <a:srgbClr val="000000"/>
                </a:solidFill>
                <a:latin typeface="210 도시락"/>
                <a:ea typeface="210 도시락"/>
                <a:cs typeface="210 도시락"/>
              </a:rPr>
              <a:t>FPGA 전자레인지</a:t>
            </a:r>
          </a:p>
          <a:p xmlns:a="http://schemas.openxmlformats.org/drawingml/2006/main">
            <a:pPr marL="0" lvl="0" indent="0" algn="ctr">
              <a:lnSpc>
                <a:spcPts val="13182"/>
              </a:lnSpc>
              <a:spcBef>
                <a:spcPct val="0"/>
              </a:spcBef>
              <a:buNone/>
              <a:defRPr sz="10575">
                <a:latin typeface="210 도시락"/>
                <a:ea typeface="210 도시락"/>
                <a:cs typeface="210 도시락"/>
              </a:defRPr>
            </a:pPr>
            <a:r>
              <a:rPr sz="10575" u="none" strike="noStrike" spc="-395">
                <a:solidFill>
                  <a:srgbClr val="000000"/>
                </a:solidFill>
                <a:latin typeface="210 도시락"/>
                <a:ea typeface="210 도시락"/>
                <a:cs typeface="210 도시락"/>
              </a:rPr>
              <a:t>제어 시스템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77A63EC-D421-4753-A37E-B068700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0755" y="8509608"/>
            <a:ext cx="5506489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50"/>
              </a:lnSpc>
              <a:buNone/>
            </a:pPr>
            <a:r>
              <a:rPr sz="2500" b="1">
                <a:solidFill>
                  <a:srgbClr val="8F8F8F"/>
                </a:solidFill>
                <a:latin typeface="Nanum Square Ultra-Bold"/>
                <a:ea typeface="Nanum Square Ultra-Bold"/>
                <a:cs typeface="Nanum Square Ultra-Bold"/>
              </a:rPr>
              <a:t>개발 포트폴리오 / Minjee Kwon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46B8CEE-C52A-4C27-9F0B-525D3121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f062af8b8244b9">
              <a:extLst>
                <a:ext uri="{96DAC541-7B7A-43D3-8B79-37D633B846F1}">
                  <asvg:svgBlip xmlns:asvg="http://schemas.microsoft.com/office/drawing/2016/SVG/main" r:embed="R72e6e2c2cc964c53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822AE38-64CF-44B8-9C75-9393D8A7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0452" y="3191734"/>
            <a:ext cx="9167096" cy="515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059"/>
              </a:lnSpc>
              <a:buNone/>
            </a:pPr>
            <a:r>
              <a:rPr sz="2899" b="1" spc="-86">
                <a:solidFill>
                  <a:srgbClr val="5453FF"/>
                </a:solidFill>
                <a:latin typeface="Nanum Square Ultra-Bold"/>
                <a:ea typeface="Nanum Square Ultra-Bold"/>
                <a:cs typeface="Nanum Square Ultra-Bold"/>
              </a:rPr>
              <a:t>[ Basys 3와 Verilog HDL 기반 기능 제어 ]</a:t>
            </a:r>
          </a:p>
        </p:txBody>
      </p:sp>
    </p:spTree>
    <p:extLst>
      <p:ext uri="{BB962C8B-B14F-4D97-AF65-F5344CB8AC3E}">
        <p14:creationId xmlns:p14="http://schemas.microsoft.com/office/powerpoint/2010/main" val="513063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126458395a94927">
              <a:extLst>
                <a:ext uri="{96DAC541-7B7A-43D3-8B79-37D633B846F1}">
                  <asvg:svgBlip xmlns:asvg="http://schemas.microsoft.com/office/drawing/2016/SVG/main" r:embed="R9356db1a921f4a38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1547ADBF-A4E3-497A-A032-4B1A6E2A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프로젝트 개요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F7F76B35-21CB-4D24-A178-F05BACF4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02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EE24759B-E73D-4420-B8AB-2F4658FE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1333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시간 입력부터 모터·문·알림까지</a:t>
            </a:r>
          </a:p>
          <a:p xmlns:a="http://schemas.openxmlformats.org/drawingml/2006/main">
            <a:pPr algn="l">
              <a:def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9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FPGA의 병렬 제어 로직으로 통합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48CAD8C1-E2C2-458A-855E-1EA4620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81750"/>
            <a:ext cx="1333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플랫폼   Basys 3 / Artix-7 / 100 MHz / Vivado 2020.2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구현 범위   시간 설정, 운전 모드, 문 개폐, 표시와 알림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개발 내용   기존 입력·표시 코드를 재사용하고 제어 모듈 통합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eb62a6c42b146fa">
              <a:extLst>
                <a:ext uri="{96DAC541-7B7A-43D3-8B79-37D633B846F1}">
                  <asvg:svgBlip xmlns:asvg="http://schemas.microsoft.com/office/drawing/2016/SVG/main" r:embed="Rec48da6c298d4d30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EE5E4DC8-B0F9-4797-BEF6-E1E97609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하드웨어 구성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62365224-1D9E-4D94-8746-56711554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03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17F7A-800B-4D09-8E24-2C83CE6561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2fde8966b4133"/>
          <a:stretch xmlns:a="http://schemas.openxmlformats.org/drawingml/2006/main"/>
        </p:blipFill>
        <p:spPr>
          <a:xfrm xmlns:a="http://schemas.openxmlformats.org/drawingml/2006/main">
            <a:off x="3513002" y="4000500"/>
            <a:ext cx="4213496" cy="5619750"/>
          </a:xfrm>
          <a:prstGeom xmlns:a="http://schemas.openxmlformats.org/drawingml/2006/main" prst="rect">
            <a:avLst/>
          </a:prstGeom>
        </p:spPr>
      </p:pic>
      <p:sp>
        <p:nvSpPr>
          <p:cNvPr id="12" name="text-7">
            <a:extLst xmlns:a="http://schemas.openxmlformats.org/drawingml/2006/main">
              <a:ext uri="{FF2B5EF4-FFF2-40B4-BE49-F238E27FC236}">
                <a16:creationId xmlns:a16="http://schemas.microsoft.com/office/drawing/2014/main" id="{6A16E4BE-D0AF-4BD1-A635-A6ACB920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24375"/>
            <a:ext cx="6191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로터리 S1/S2   시간 ±1초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내장 버튼   시작·취소·모드 전환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외부 버튼   서보 열기·닫기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DC 모터·FND·LED·부저   운전과 알림</a:t>
            </a:r>
          </a:p>
        </p:txBody>
      </p:sp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B069667E-4107-4F08-B576-908D457A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8582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서보 암으로 문 개폐를 모사한 시제품</a:t>
            </a:r>
          </a:p>
          <a:p xmlns:a="http://schemas.openxmlformats.org/drawingml/2006/main">
            <a: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가열부와 실제 문 위치 센서는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c425d99b6d43f9">
              <a:extLst>
                <a:ext uri="{96DAC541-7B7A-43D3-8B79-37D633B846F1}">
                  <asvg:svgBlip xmlns:asvg="http://schemas.microsoft.com/office/drawing/2016/SVG/main" r:embed="Ra0d5b039d90e440c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503C499E-010E-4F41-A4BF-269B4255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Architecture · 전체 구조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A711FD27-CD1E-42B6-8207-288390B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04</a:t>
            </a:r>
          </a:p>
        </p:txBody>
      </p:sp>
      <p:sp>
        <p:nvSpPr>
          <p:cNvPr id="11" name="btn_debounce">
            <a:extLst xmlns:a="http://schemas.openxmlformats.org/drawingml/2006/main">
              <a:ext uri="{FF2B5EF4-FFF2-40B4-BE49-F238E27FC236}">
                <a16:creationId xmlns:a16="http://schemas.microsoft.com/office/drawing/2014/main" id="{8A27A263-C7B3-4048-9BAE-2F4D4EB3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btn_debounce</a:t>
            </a:r>
          </a:p>
        </p:txBody>
      </p:sp>
      <p:sp>
        <p:nvSpPr>
          <p:cNvPr id="12" name="rotary">
            <a:extLst xmlns:a="http://schemas.openxmlformats.org/drawingml/2006/main">
              <a:ext uri="{FF2B5EF4-FFF2-40B4-BE49-F238E27FC236}">
                <a16:creationId xmlns:a16="http://schemas.microsoft.com/office/drawing/2014/main" id="{87AF33A7-A9C5-4A4F-80A7-01ECFB2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0008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rotary</a:t>
            </a:r>
          </a:p>
        </p:txBody>
      </p:sp>
      <p:sp>
        <p:nvSpPr>
          <p:cNvPr id="13" name="microwave_fsm">
            <a:extLst xmlns:a="http://schemas.openxmlformats.org/drawingml/2006/main">
              <a:ext uri="{FF2B5EF4-FFF2-40B4-BE49-F238E27FC236}">
                <a16:creationId xmlns:a16="http://schemas.microsoft.com/office/drawing/2014/main" id="{C584CD58-E84A-46D4-8087-A4A5A2AB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338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microwave_fsm</a:t>
            </a:r>
          </a:p>
        </p:txBody>
      </p:sp>
      <p:sp>
        <p:nvSpPr>
          <p:cNvPr id="14" name="timer">
            <a:extLst xmlns:a="http://schemas.openxmlformats.org/drawingml/2006/main">
              <a:ext uri="{FF2B5EF4-FFF2-40B4-BE49-F238E27FC236}">
                <a16:creationId xmlns:a16="http://schemas.microsoft.com/office/drawing/2014/main" id="{4C20728F-1B5A-4AD3-9DCD-0E95DCA2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0008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timer</a:t>
            </a:r>
          </a:p>
        </p:txBody>
      </p:sp>
      <p:sp>
        <p:nvSpPr>
          <p:cNvPr id="15" name="fnd_controller">
            <a:extLst xmlns:a="http://schemas.openxmlformats.org/drawingml/2006/main">
              <a:ext uri="{FF2B5EF4-FFF2-40B4-BE49-F238E27FC236}">
                <a16:creationId xmlns:a16="http://schemas.microsoft.com/office/drawing/2014/main" id="{37DB99D1-DAB4-427A-BB8E-C5C6D32A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00050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fnd_controller</a:t>
            </a:r>
          </a:p>
        </p:txBody>
      </p:sp>
      <p:sp>
        <p:nvSpPr>
          <p:cNvPr id="16" name="buzzer_controller">
            <a:extLst xmlns:a="http://schemas.openxmlformats.org/drawingml/2006/main">
              <a:ext uri="{FF2B5EF4-FFF2-40B4-BE49-F238E27FC236}">
                <a16:creationId xmlns:a16="http://schemas.microsoft.com/office/drawing/2014/main" id="{73D6E168-D372-4B1C-8C74-E5801E13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4292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buzzer_controller</a:t>
            </a:r>
          </a:p>
        </p:txBody>
      </p:sp>
      <p:sp>
        <p:nvSpPr>
          <p:cNvPr id="17" name="servo_controller">
            <a:extLst xmlns:a="http://schemas.openxmlformats.org/drawingml/2006/main">
              <a:ext uri="{FF2B5EF4-FFF2-40B4-BE49-F238E27FC236}">
                <a16:creationId xmlns:a16="http://schemas.microsoft.com/office/drawing/2014/main" id="{593A267C-0CD4-4CDB-A39A-982C6D56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685800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servo_controller</a:t>
            </a:r>
          </a:p>
        </p:txBody>
      </p:sp>
      <p:sp>
        <p:nvSpPr>
          <p:cNvPr id="18" name="motor_controller">
            <a:extLst xmlns:a="http://schemas.openxmlformats.org/drawingml/2006/main">
              <a:ext uri="{FF2B5EF4-FFF2-40B4-BE49-F238E27FC236}">
                <a16:creationId xmlns:a16="http://schemas.microsoft.com/office/drawing/2014/main" id="{C9230FEF-31FE-468D-B3F6-7F8F3824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82867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motor_controller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0B1EC-CFC6-4B8F-9830-E0171AE707C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8750" y="4810125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20" name="text-16">
            <a:extLst xmlns:a="http://schemas.openxmlformats.org/drawingml/2006/main">
              <a:ext uri="{FF2B5EF4-FFF2-40B4-BE49-F238E27FC236}">
                <a16:creationId xmlns:a16="http://schemas.microsoft.com/office/drawing/2014/main" id="{2F569802-5FAC-4EB0-A75F-661F1C24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81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btn_pulse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CFD62-748E-46A7-B534-DF64863A8A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8750" y="7477125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22" name="text-18">
            <a:extLst xmlns:a="http://schemas.openxmlformats.org/drawingml/2006/main">
              <a:ext uri="{FF2B5EF4-FFF2-40B4-BE49-F238E27FC236}">
                <a16:creationId xmlns:a16="http://schemas.microsoft.com/office/drawing/2014/main" id="{1F47FEC2-3CED-4D71-98FC-8D400D84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048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inc / dec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F26FA-A830-4128-BBDD-0C4A3DE7BF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96250" y="5286375"/>
            <a:ext cx="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24" name="text-20">
            <a:extLst xmlns:a="http://schemas.openxmlformats.org/drawingml/2006/main">
              <a:ext uri="{FF2B5EF4-FFF2-40B4-BE49-F238E27FC236}">
                <a16:creationId xmlns:a16="http://schemas.microsoft.com/office/drawing/2014/main" id="{71CA89B5-AFCD-4BA1-B6B7-B0D8C65D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5312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start / pause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9A3AD-3BDB-481E-AD82-70AD2B68645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34500" y="5286375"/>
            <a:ext cx="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26" name="text-22">
            <a:extLst xmlns:a="http://schemas.openxmlformats.org/drawingml/2006/main">
              <a:ext uri="{FF2B5EF4-FFF2-40B4-BE49-F238E27FC236}">
                <a16:creationId xmlns:a16="http://schemas.microsoft.com/office/drawing/2014/main" id="{9B8E8049-44C8-40A7-A463-D2E4E174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953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running / done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B646AA-96EB-487F-A39F-5436981118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82250" y="7286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6F6646-ABD5-420F-A725-DEA87F803AB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334750" y="4400550"/>
            <a:ext cx="0" cy="2886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1573C7-29D2-45B3-9897-5CF109DF2F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334750" y="440055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30" name="text-26">
            <a:extLst xmlns:a="http://schemas.openxmlformats.org/drawingml/2006/main">
              <a:ext uri="{FF2B5EF4-FFF2-40B4-BE49-F238E27FC236}">
                <a16:creationId xmlns:a16="http://schemas.microsoft.com/office/drawing/2014/main" id="{34645225-57AE-4872-9BE2-035C310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000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remaining</a:t>
            </a:r>
          </a:p>
        </p:txBody>
      </p: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7AEBB6-761C-4549-9F5A-99B7833443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82250" y="76676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A68706-FA45-48FA-A7B4-B4D61FC695D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811000" y="5829300"/>
            <a:ext cx="0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097C6B-E3CC-496B-AFF0-68F9D362ABE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0" y="58293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34" name="text-30">
            <a:extLst xmlns:a="http://schemas.openxmlformats.org/drawingml/2006/main">
              <a:ext uri="{FF2B5EF4-FFF2-40B4-BE49-F238E27FC236}">
                <a16:creationId xmlns:a16="http://schemas.microsoft.com/office/drawing/2014/main" id="{F573D028-8B5B-4171-8EC0-89EDCA99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816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done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6E1926-3EFA-44BD-8607-F7BF5BCA24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82250" y="4667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93DD4-D0E9-4334-9481-D904E4A5D3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0" y="4667250"/>
            <a:ext cx="0" cy="2590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74E14C-7305-4046-9FE7-A86835C32AE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0" y="72580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38" name="text-34">
            <a:extLst xmlns:a="http://schemas.openxmlformats.org/drawingml/2006/main">
              <a:ext uri="{FF2B5EF4-FFF2-40B4-BE49-F238E27FC236}">
                <a16:creationId xmlns:a16="http://schemas.microsoft.com/office/drawing/2014/main" id="{72A6956D-443F-4CC2-9B8B-F67FCF93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10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door_open</a:t>
            </a:r>
          </a:p>
        </p:txBody>
      </p: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400503-176A-4CBE-9AD5-D393E0F2E0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82250" y="50006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017741-D7BE-4E80-BB34-1EE1E4E1276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573000" y="5000625"/>
            <a:ext cx="0" cy="3686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6B3AC0-A9AB-4514-9515-A621B3774B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573000" y="86868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42" name="text-38">
            <a:extLst xmlns:a="http://schemas.openxmlformats.org/drawingml/2006/main">
              <a:ext uri="{FF2B5EF4-FFF2-40B4-BE49-F238E27FC236}">
                <a16:creationId xmlns:a16="http://schemas.microsoft.com/office/drawing/2014/main" id="{1B3B0B67-E55C-4CCB-B963-62D5ED9B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191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mode / enable</a:t>
            </a:r>
          </a:p>
        </p:txBody>
      </p:sp>
      <p:sp>
        <p:nvSpPr>
          <p:cNvPr id="43" name="text-39">
            <a:extLst xmlns:a="http://schemas.openxmlformats.org/drawingml/2006/main">
              <a:ext uri="{FF2B5EF4-FFF2-40B4-BE49-F238E27FC236}">
                <a16:creationId xmlns:a16="http://schemas.microsoft.com/office/drawing/2014/main" id="{7B4DC882-0796-45E4-A5A9-A7CB69AE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btn[6:0]</a:t>
            </a:r>
          </a:p>
        </p:txBody>
      </p:sp>
      <p:sp>
        <p:nvSpPr>
          <p:cNvPr id="44" name="text-40">
            <a:extLst xmlns:a="http://schemas.openxmlformats.org/drawingml/2006/main">
              <a:ext uri="{FF2B5EF4-FFF2-40B4-BE49-F238E27FC236}">
                <a16:creationId xmlns:a16="http://schemas.microsoft.com/office/drawing/2014/main" id="{7B63994C-3377-465E-B3F5-8D80C82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24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95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s1 / s2</a:t>
            </a:r>
          </a:p>
        </p:txBody>
      </p:sp>
      <p:sp>
        <p:nvSpPr>
          <p:cNvPr id="45" name="text-41">
            <a:extLst xmlns:a="http://schemas.openxmlformats.org/drawingml/2006/main">
              <a:ext uri="{FF2B5EF4-FFF2-40B4-BE49-F238E27FC236}">
                <a16:creationId xmlns:a16="http://schemas.microsoft.com/office/drawing/2014/main" id="{EA3A3B09-C4B7-42AC-BA51-E23D5AC0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9667875"/>
            <a:ext cx="1295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9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clk / reset 공통 연결. FND와 부저에는 FSM의 표시·알림 이벤트도 전달.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ee149e9b4ca48d7">
              <a:extLst>
                <a:ext uri="{96DAC541-7B7A-43D3-8B79-37D633B846F1}">
                  <asvg:svgBlip xmlns:asvg="http://schemas.microsoft.com/office/drawing/2016/SVG/main" r:embed="R2ae70f77ffcc4012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11661F6A-A213-48A4-BA1B-39C33202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FSM · 운전과 문 제어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8DB94351-520B-4C58-9FBE-2C3691B5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05</a:t>
            </a:r>
          </a:p>
        </p:txBody>
      </p:sp>
      <p:sp>
        <p:nvSpPr>
          <p:cNvPr id="11" name="설정 / 정지">
            <a:extLst xmlns:a="http://schemas.openxmlformats.org/drawingml/2006/main">
              <a:ext uri="{FF2B5EF4-FFF2-40B4-BE49-F238E27FC236}">
                <a16:creationId xmlns:a16="http://schemas.microsoft.com/office/drawing/2014/main" id="{816B2D8A-FC0F-4E1C-89A3-CC001305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설정 / 정지</a:t>
            </a:r>
          </a:p>
        </p:txBody>
      </p:sp>
      <p:sp>
        <p:nvSpPr>
          <p:cNvPr id="12" name="운전 중">
            <a:extLst xmlns:a="http://schemas.openxmlformats.org/drawingml/2006/main">
              <a:ext uri="{FF2B5EF4-FFF2-40B4-BE49-F238E27FC236}">
                <a16:creationId xmlns:a16="http://schemas.microsoft.com/office/drawing/2014/main" id="{4812C176-5395-4D78-990B-8AEE5692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0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운전 중</a:t>
            </a:r>
          </a:p>
        </p:txBody>
      </p:sp>
      <p:sp>
        <p:nvSpPr>
          <p:cNvPr id="13" name="문 열림 / 정지">
            <a:extLst xmlns:a="http://schemas.openxmlformats.org/drawingml/2006/main">
              <a:ext uri="{FF2B5EF4-FFF2-40B4-BE49-F238E27FC236}">
                <a16:creationId xmlns:a16="http://schemas.microsoft.com/office/drawing/2014/main" id="{B4294F46-AC5A-48C9-9F7B-9264584D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20000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문 열림 / 정지</a:t>
            </a:r>
          </a:p>
        </p:txBody>
      </p:sp>
      <p:sp>
        <p:nvSpPr>
          <p:cNvPr id="14" name="종료 표시">
            <a:extLst xmlns:a="http://schemas.openxmlformats.org/drawingml/2006/main">
              <a:ext uri="{FF2B5EF4-FFF2-40B4-BE49-F238E27FC236}">
                <a16:creationId xmlns:a16="http://schemas.microsoft.com/office/drawing/2014/main" id="{B1AE0A3E-474B-4B39-A645-6A152F29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620000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FF"/>
          </a:solidFill>
          <a:ln xmlns:a="http://schemas.openxmlformats.org/drawingml/2006/main" w="19050">
            <a:solidFill>
              <a:srgbClr val="5453FF"/>
            </a:solidFill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>
            <a:def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종료 표시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5BE08-E4BE-4753-90CE-5286467A96A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62750" y="4810125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8B92194-1A5E-4404-B394-0DA58070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86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C / 시간 &gt; 0 / 문 닫힘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C7F0D-EF67-4EBA-B468-515814ADBEF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762750" y="5381625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7DEADC6-630E-4426-97E1-AE26C68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67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L / 남은 시간 유지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5E70B-DE0E-41A2-A03B-D6287DDC6F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858750" y="5715000"/>
            <a:ext cx="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20" name="text-16">
            <a:extLst xmlns:a="http://schemas.openxmlformats.org/drawingml/2006/main">
              <a:ext uri="{FF2B5EF4-FFF2-40B4-BE49-F238E27FC236}">
                <a16:creationId xmlns:a16="http://schemas.microsoft.com/office/drawing/2014/main" id="{DC26036E-25D6-4E36-9530-5CF7B91A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5246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20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done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3A39D-5189-4974-8D89-499DE7B5531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286250" y="5715000"/>
            <a:ext cx="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22" name="text-18">
            <a:extLst xmlns:a="http://schemas.openxmlformats.org/drawingml/2006/main">
              <a:ext uri="{FF2B5EF4-FFF2-40B4-BE49-F238E27FC236}">
                <a16:creationId xmlns:a16="http://schemas.microsoft.com/office/drawing/2014/main" id="{2ED88487-2F0E-4176-91C0-A42CBD50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246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닫기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BE7D0-0DD4-4D17-A3AF-0D1E448015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0" y="5715000"/>
            <a:ext cx="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24" name="text-20">
            <a:extLst xmlns:a="http://schemas.openxmlformats.org/drawingml/2006/main">
              <a:ext uri="{FF2B5EF4-FFF2-40B4-BE49-F238E27FC236}">
                <a16:creationId xmlns:a16="http://schemas.microsoft.com/office/drawing/2014/main" id="{181E6052-D557-4D4C-B4BE-5A1D6FF0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246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열기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D45F5-F8E6-49E3-951E-D6D00D9675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0" y="57150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62F0C-56A6-4201-9DB0-550D473BEAE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762750" y="68580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FF9402-D651-479F-B1E5-1F51476919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62750" y="685800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28" name="text-24">
            <a:extLst xmlns:a="http://schemas.openxmlformats.org/drawingml/2006/main">
              <a:ext uri="{FF2B5EF4-FFF2-40B4-BE49-F238E27FC236}">
                <a16:creationId xmlns:a16="http://schemas.microsoft.com/office/drawing/2014/main" id="{3407DB04-4B63-4BF2-9617-BDD5BD83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334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문 열기 / 운전 정지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1F9E1D-FA90-45D9-98BB-EA6C92D6A5E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762750" y="8429625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30" name="text-26">
            <a:extLst xmlns:a="http://schemas.openxmlformats.org/drawingml/2006/main">
              <a:ext uri="{FF2B5EF4-FFF2-40B4-BE49-F238E27FC236}">
                <a16:creationId xmlns:a16="http://schemas.microsoft.com/office/drawing/2014/main" id="{73917BE6-A083-41E0-8CAB-86E58C23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620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문 열기</a:t>
            </a:r>
          </a:p>
        </p:txBody>
      </p: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9D3B9-3E72-40C0-96CF-3A24C0E10D0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001750" y="72390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FC7175-8550-4824-BA4B-53E89C1615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001750" y="72390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AC42F3-D0B7-463A-89F2-0A3BD0C6477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5240000" y="4048125"/>
            <a:ext cx="0" cy="3190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424BF-6BBC-4300-BB4C-20F6388A353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953000" y="40481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5DAACE-8C64-4A65-9C25-45BFBA73530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40481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53FF"/>
            </a:solidFill>
            <a:tailEnd type="triangle" w="sm" len="sm"/>
          </a:ln>
        </p:spPr>
      </p:cxnSp>
      <p:sp>
        <p:nvSpPr>
          <p:cNvPr id="36" name="text-32">
            <a:extLst xmlns:a="http://schemas.openxmlformats.org/drawingml/2006/main">
              <a:ext uri="{FF2B5EF4-FFF2-40B4-BE49-F238E27FC236}">
                <a16:creationId xmlns:a16="http://schemas.microsoft.com/office/drawing/2014/main" id="{3F04E2A3-8309-42D0-974C-47028F42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6195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점멸 완료 / 재설정</a:t>
            </a:r>
          </a:p>
        </p:txBody>
      </p:sp>
      <p:sp>
        <p:nvSpPr>
          <p:cNvPr id="37" name="text-33">
            <a:extLst xmlns:a="http://schemas.openxmlformats.org/drawingml/2006/main">
              <a:ext uri="{FF2B5EF4-FFF2-40B4-BE49-F238E27FC236}">
                <a16:creationId xmlns:a16="http://schemas.microsoft.com/office/drawing/2014/main" id="{AED4711A-9234-4997-BF82-40CFA2A5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9572625"/>
            <a:ext cx="1323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개념 상태도: 실제 RTL은 running, door_open, finish 플래그로 동작 분리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b48acae7014ec4">
              <a:extLst>
                <a:ext uri="{96DAC541-7B7A-43D3-8B79-37D633B846F1}">
                  <asvg:svgBlip xmlns:asvg="http://schemas.microsoft.com/office/drawing/2016/SVG/main" r:embed="R79c878e906ee4d60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916E0FE5-1568-4946-B834-CBC589CD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Source · 로터리와 타이머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E4201CEF-4733-4BF9-A028-BC659C4C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06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A12FCEFB-0FD1-49D3-BAF5-B9642E46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유효 전이 4회마다 한 클록 증감 펄스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1E822974-B5B1-4325-AB15-682208C8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38750"/>
            <a:ext cx="1314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4'b0010,4'b1011,4'b1101,4'b0100:</a:t>
            </a:r>
          </a:p>
          <a:p xmlns:a="http://schemas.openxmlformats.org/drawingml/2006/main">
            <a: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 if(steps==3) begin steps&lt;=0;inc&lt;=1;end</a:t>
            </a:r>
          </a:p>
          <a:p xmlns:a="http://schemas.openxmlformats.org/drawingml/2006/main">
            <a: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 else steps&lt;=steps+1'b1;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5E6A5FF0-BD5B-4257-9909-F3D1F731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47712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1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running 분기에서 시간 변경 입력 차단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03470F2B-CCF9-4F91-B03B-CAD4D9C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382000"/>
            <a:ext cx="1314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정지: ±1초와 start 처리</a:t>
            </a:r>
          </a:p>
          <a:p xmlns:a="http://schemas.openxmlformats.org/drawingml/2006/main">
            <a: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운전: 100,000,000클록마다 1초 차감</a:t>
            </a:r>
          </a:p>
          <a:p xmlns:a="http://schemas.openxmlformats.org/drawingml/2006/main">
            <a: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취소 후 시간 유지, 종료 후 새 시간 설정 가능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231ebd78e14355">
              <a:extLst>
                <a:ext uri="{96DAC541-7B7A-43D3-8B79-37D633B846F1}">
                  <asvg:svgBlip xmlns:asvg="http://schemas.microsoft.com/office/drawing/2016/SVG/main" r:embed="Rd950f427dd974850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4482DCAF-0498-48B4-8A32-BFF36E3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Source · 운전 조건과 모터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55B8A2BF-23A4-45E1-96BF-50BA51EF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07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3DFD2E30-ED8C-4675-9EAF-DDE424BC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33875"/>
            <a:ext cx="1314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assign motor_enable=running &amp;&amp; !door_open</a:t>
            </a:r>
          </a:p>
          <a:p xmlns:a="http://schemas.openxmlformats.org/drawingml/2006/main">
            <a: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             &amp;&amp; !btn_pulse[3] &amp;&amp; !btn_pulse[5];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57355DD4-6CB4-40E5-AC98-5AAC1215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191250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EN은 운전 중 HIGH 유지, 듀티 조절 없음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E0DC381E-B276-4541-AD8B-46834450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239000"/>
            <a:ext cx="1314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assign motor_pwm=active;</a:t>
            </a:r>
          </a:p>
          <a:p xmlns:a="http://schemas.openxmlformats.org/drawingml/2006/main">
            <a: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assign in1=active &amp;&amp; !current_dir;</a:t>
            </a:r>
          </a:p>
          <a:p xmlns:a="http://schemas.openxmlformats.org/drawingml/2006/main">
            <a:pPr algn="l">
              <a:def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assign in2=active &amp;&amp; current_dir;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9DFAEC12-8C99-44D5-87BE-AC428022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048750"/>
            <a:ext cx="1314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LED0 정회전 / LED1 역회전 / LED2 3초 교대</a:t>
            </a:r>
          </a:p>
          <a:p xmlns:a="http://schemas.openxmlformats.org/drawingml/2006/main">
            <a:pPr algn="l">
              <a:def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2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방향 변경 전 5ms 대기 구간으로 EN 비활성화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d6041457204570">
              <a:extLst>
                <a:ext uri="{96DAC541-7B7A-43D3-8B79-37D633B846F1}">
                  <asvg:svgBlip xmlns:asvg="http://schemas.microsoft.com/office/drawing/2016/SVG/main" r:embed="R41d2b92b87614356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C77D33DC-47BE-4C42-8817-0472A663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Source · 서보와 표시·알림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26EE4DE3-3C48-4C57-B7A7-989B4FDB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08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7F6808AF-15AD-4AFB-AFB9-D69A1DB0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서보 명령은 20ms 프레임 경계에서 반영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19029964-E128-4AD6-AB8E-8FDBF1C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38750"/>
            <a:ext cx="1314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else if(count==1999999) begin</a:t>
            </a:r>
          </a:p>
          <a:p xmlns:a="http://schemas.openxmlformats.org/drawingml/2006/main">
            <a: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 count&lt;=0; frame_open&lt;=open;</a:t>
            </a:r>
          </a:p>
          <a:p xmlns:a="http://schemas.openxmlformats.org/drawingml/2006/main">
            <a: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end</a:t>
            </a:r>
          </a:p>
          <a:p xmlns:a="http://schemas.openxmlformats.org/drawingml/2006/main">
            <a: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assign servo=(count&lt;(frame_open?150000:100000));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30FA53B4-7413-4343-9707-1D70B584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715250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8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닫힘 1ms / 열림 1.5ms / 주기 20ms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A53236D3-045B-4AE5-871A-7FB8A911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810625"/>
            <a:ext cx="1314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FND: MM:SS와 원형 표시 교대, 종료 시 0000 점멸</a:t>
            </a:r>
          </a:p>
          <a:p xmlns:a="http://schemas.openxmlformats.org/drawingml/2006/main">
            <a:pPr algn="l">
              <a:def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32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부저: 버튼·문 상태 변화·done 이벤트별 음계 선택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69abcc50a64ed8">
              <a:extLst>
                <a:ext uri="{96DAC541-7B7A-43D3-8B79-37D633B846F1}">
                  <asvg:svgBlip xmlns:asvg="http://schemas.microsoft.com/office/drawing/2016/SVG/main" r:embed="Rf60095713f344a5f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72DCAA18-0ED4-4F55-A618-8D9A906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Test Bench · 기본 동작 확인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71F20785-F8D8-4215-8D06-B3F244FA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09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B65DC341-FB22-4362-A730-A69FD8D9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38625"/>
            <a:ext cx="1314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2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복잡한 자동 검증 대신 동작 순서를 파형으로 확인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39D6C-9183-4A86-BC0F-7E68C50ADAE2}"/>
              </a:ext>
            </a:extLst>
          </p:cNvPr>
          <p:cNvGraphicFramePr/>
          <p:nvPr/>
        </p:nvGraphicFramePr>
        <p:xfrm>
          <a:off xmlns:a="http://schemas.openxmlformats.org/drawingml/2006/main" x="2571750" y="5381625"/>
          <a:ext xmlns:a="http://schemas.openxmlformats.org/drawingml/2006/main" cx="13144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9144000"/>
              </a:tblGrid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2250" b="1">
                          <a:solidFill>
                            <a:srgbClr val="5453FF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순서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DCEA"/>
                      </a:solidFill>
                      <a:prstDash val="solid"/>
                    </a:lnL>
                    <a:lnR w="9525">
                      <a:solidFill>
                        <a:srgbClr val="DCDCEA"/>
                      </a:solidFill>
                      <a:prstDash val="solid"/>
                    </a:lnR>
                    <a:lnT w="9525">
                      <a:solidFill>
                        <a:srgbClr val="DCDCEA"/>
                      </a:solidFill>
                      <a:prstDash val="solid"/>
                    </a:lnT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EBEA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250" b="1">
                          <a:solidFill>
                            <a:srgbClr val="5453FF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입력과 관찰할 동작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DCEA"/>
                      </a:solidFill>
                      <a:prstDash val="solid"/>
                    </a:lnR>
                    <a:lnT w="9525">
                      <a:solidFill>
                        <a:srgbClr val="DCDCEA"/>
                      </a:solidFill>
                      <a:prstDash val="solid"/>
                    </a:lnT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EBEAFF"/>
                    </a:solidFill>
                  </a:tcPr>
                </a:tc>
              </a:tr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설정·운전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DCEA"/>
                      </a:solidFill>
                      <a:prstDash val="solid"/>
                    </a:lnL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로터리 ±1초, 센터 시작, 운전 중 변경 차단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정지·문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DCEA"/>
                      </a:solidFill>
                      <a:prstDash val="solid"/>
                    </a:lnL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취소 후 재설정, 문 열기 정지, 닫기 후 대기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모드·종료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DCEA"/>
                      </a:solidFill>
                      <a:prstDash val="solid"/>
                    </a:lnL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모드별 방향, 타임아웃, 종료 후 새 시작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571E323E-A4E8-4DB6-A274-37FCE471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9334500"/>
            <a:ext cx="1314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02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버튼은 디바운스 완료 펄스 사용 / 긴 1초·3초 대기는 경계값으로 이동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1730340e1424602">
              <a:extLst>
                <a:ext uri="{96DAC541-7B7A-43D3-8B79-37D633B846F1}">
                  <asvg:svgBlip xmlns:asvg="http://schemas.microsoft.com/office/drawing/2016/SVG/main" r:embed="R8c4350e3a495425b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66FEEDFC-E7C4-4729-B614-9C98B22D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Test Bench · 실행 상태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69458A52-49CE-4AEE-96DA-D528554A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10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A9512-0222-4E1C-9CCC-05B65E037186}"/>
              </a:ext>
            </a:extLst>
          </p:cNvPr>
          <p:cNvGraphicFramePr/>
          <p:nvPr/>
        </p:nvGraphicFramePr>
        <p:xfrm>
          <a:off xmlns:a="http://schemas.openxmlformats.org/drawingml/2006/main" x="2571750" y="4381500"/>
          <a:ext xmlns:a="http://schemas.openxmlformats.org/drawingml/2006/main" cx="13144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9144000"/>
              </a:tblGrid>
              <a:tr h="833438">
                <a:tc>
                  <a:txBody>
                    <a:bodyPr lIns="114300" tIns="114300" rIns="114300" bIns="114300"/>
                    <a:lstStyle/>
                    <a:p>
                      <a:r>
                        <a:rPr sz="2250" b="1">
                          <a:solidFill>
                            <a:srgbClr val="5453FF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DCEA"/>
                      </a:solidFill>
                      <a:prstDash val="solid"/>
                    </a:lnL>
                    <a:lnR w="9525">
                      <a:solidFill>
                        <a:srgbClr val="DCDCEA"/>
                      </a:solidFill>
                      <a:prstDash val="solid"/>
                    </a:lnR>
                    <a:lnT w="9525">
                      <a:solidFill>
                        <a:srgbClr val="DCDCEA"/>
                      </a:solidFill>
                      <a:prstDash val="solid"/>
                    </a:lnT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EBEA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250" b="1">
                          <a:solidFill>
                            <a:srgbClr val="5453FF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현재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DCEA"/>
                      </a:solidFill>
                      <a:prstDash val="solid"/>
                    </a:lnR>
                    <a:lnT w="9525">
                      <a:solidFill>
                        <a:srgbClr val="DCDCEA"/>
                      </a:solidFill>
                      <a:prstDash val="solid"/>
                    </a:lnT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EBEA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Verilog 구문 분석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DCEA"/>
                      </a:solidFill>
                      <a:prstDash val="solid"/>
                    </a:lnL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간단한 동작 테스트벤치 xvlog 통과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정적 elaboration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DCEA"/>
                      </a:solidFill>
                      <a:prstDash val="solid"/>
                    </a:lnL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정적 분석과 data flow analysis 완료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동작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DCEA"/>
                      </a:solidFill>
                      <a:prstDash val="solid"/>
                    </a:lnL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250" b="0">
                          <a:solidFill>
                            <a:srgbClr val="242436"/>
                          </a:solidFill>
                          <a:latin typeface="Nanum Square"/>
                          <a:ea typeface="Nanum Square"/>
                          <a:cs typeface="Nanum Square"/>
                        </a:rPr>
                        <a:t>XSIM 생성 C 파일 컴파일 오류로 결과 대기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DCEA"/>
                      </a:solidFill>
                      <a:prstDash val="solid"/>
                    </a:lnR>
                    <a:lnB w="9525">
                      <a:solidFill>
                        <a:srgbClr val="DC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-7">
            <a:extLst xmlns:a="http://schemas.openxmlformats.org/drawingml/2006/main">
              <a:ext uri="{FF2B5EF4-FFF2-40B4-BE49-F238E27FC236}">
                <a16:creationId xmlns:a16="http://schemas.microsoft.com/office/drawing/2014/main" id="{35335A16-7729-46C7-81BB-45100686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286750"/>
            <a:ext cx="1285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파형에서 기본 동작을 확인하고 실제 결과 반영</a:t>
            </a:r>
          </a:p>
        </p:txBody>
      </p:sp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2A5880E8-EC62-4B70-8E6F-7DF281DE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2392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25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전수 검증과 자동 PASS 판정은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7dbd2ab73b408b">
              <a:extLst>
                <a:ext uri="{96DAC541-7B7A-43D3-8B79-37D633B846F1}">
                  <asvg:svgBlip xmlns:asvg="http://schemas.microsoft.com/office/drawing/2016/SVG/main" r:embed="R9a03cca5ebdd4c21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1CE6B2DC-BAF0-4A0A-A005-8F9754F8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Test Bench · 결과 페이지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3E1010D0-4EFC-4140-812E-52D8619D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11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4E5AD331-5024-435D-9C76-882DDEFD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76750"/>
            <a:ext cx="1257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435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실제 실행 로그와 파형 캡처 대기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207066F7-7EE8-4B95-8B0F-316B1032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048375"/>
            <a:ext cx="1257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시간 설정·시작: inc/dec, remaining, running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취소·문: pause, door_open, pwm_out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모터·종료: mode, in1_in2, done, finish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서보: 문 개폐에 따른 1ms / 1.5ms 펄스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8FB95124-02CD-4FFB-A7B7-B1155FF2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9477375"/>
            <a:ext cx="1257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실행 결과를 받으면 해당 구간의 파형과 관찰 내용을 삽입합니다.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E6E7E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Freeform 3">
            <a:extLst>
              <a:ext uri="{FF2B5EF4-FFF2-40B4-BE49-F238E27FC236}">
                <ns2:creationId id="{957081A2-C31A-444F-BAFD-8683CA1B2CE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25680" y="1028700"/>
            <a:ext cx="16036641" cy="9258300"/>
          </a:xfrm>
          <a:custGeom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</p:sp>
      <p:sp>
        <p:nvSpPr>
          <p:cNvPr id="4" name="TextBox 4">
            <a:extLst>
              <a:ext uri="{FF2B5EF4-FFF2-40B4-BE49-F238E27FC236}">
                <ns2:creationId id="{1839998F-6E2B-4951-A553-532C86C1F8A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25680" y="821650"/>
            <a:ext cx="16036641" cy="9465350"/>
          </a:xfrm>
          <a:prstGeom prst="rect">
            <a:avLst/>
          </a:prstGeom>
        </p:spPr>
        <p:txBody>
          <a:bodyPr lIns="85454" tIns="85454" rIns="85454" bIns="85454" anchor="ctr"/>
          <a:lstStyle/>
          <a:p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>
              <a:ext uri="{FF2B5EF4-FFF2-40B4-BE49-F238E27FC236}">
                <ns2:creationId id="{EAB5A3D8-95D6-4770-8D1C-3A9643E6138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25680" y="1028700"/>
            <a:ext cx="16036641" cy="2682598"/>
          </a:xfrm>
          <a:custGeom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>
            <a:srgbClr val="EBEAFF"/>
          </a:solidFill>
          <a:ln cap="sq">
            <a:noFill/>
            <a:prstDash val="solid"/>
            <a:miter/>
          </a:ln>
        </p:spPr>
      </p:sp>
      <p:sp>
        <p:nvSpPr>
          <p:cNvPr id="7" name="TextBox 7">
            <a:extLst>
              <a:ext uri="{FF2B5EF4-FFF2-40B4-BE49-F238E27FC236}">
                <ns2:creationId id="{35C8C95D-F0D4-4691-9715-6945A548D3B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25680" y="821650"/>
            <a:ext cx="16036641" cy="2889648"/>
          </a:xfrm>
          <a:prstGeom prst="rect">
            <a:avLst/>
          </a:prstGeom>
        </p:spPr>
        <p:txBody>
          <a:bodyPr lIns="85454" tIns="85454" rIns="85454" bIns="85454" anchor="ctr"/>
          <a:lstStyle/>
          <a:p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>
              <a:ext uri="{FF2B5EF4-FFF2-40B4-BE49-F238E27FC236}">
                <ns2:creationId id="{CCAD2688-99EC-48A1-9003-84EEF74D5A5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873533" y="430402"/>
            <a:ext cx="2318974" cy="936428"/>
          </a:xfrm>
          <a:custGeom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>
            <a:blip r:embed="R6082a2b89c1547e6">
              <a:extLst>
                <a:ext uri="{96DAC541-7B7A-43D3-8B79-37D633B846F1}">
                  <ns4:svgBlip r:embed="Reded1d1f8ff9406f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>
              <a:ext uri="{FF2B5EF4-FFF2-40B4-BE49-F238E27FC236}">
                <ns2:creationId id="{8C077836-57F3-424E-8412-B06A18297FF8}"/>
              </a:ext>
            </a:extLst>
          </p:cNvPr>
          <p:cNvSpPr>
            <a:spLocks noGrp="1"/>
          </p:cNvSpPr>
          <p:nvPr/>
        </p:nvSpPr>
        <p:spPr>
          <a:xfrm>
            <a:off x="2000250" y="2095500"/>
            <a:ext cx="14287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동작 영상 · 주요 장면</a:t>
            </a:r>
          </a:p>
        </p:txBody>
      </p:sp>
      <p:sp>
        <p:nvSpPr>
          <p:cNvPr id="10" name="text-6">
            <a:extLst>
              <a:ext uri="{FF2B5EF4-FFF2-40B4-BE49-F238E27FC236}">
                <ns2:creationId id="{7E266B14-6CD2-4BF3-8C5F-94359F0B94B1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619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12</a:t>
            </a:r>
          </a:p>
        </p:txBody>
      </p:sp>
      <p:pic>
        <p:nvPicPr>
          <p:cNvPr id="11" name="Microwave Demo Video">
            <a:extLst>
              <a:ext uri="{FF2B5EF4-FFF2-40B4-BE49-F238E27FC236}">
                <ns2:creationId id="{4D421BC0-0A29-45D0-8C06-DA90DA2F6307}"/>
              </a:ext>
            </a:extLst>
            <a:hlinkClick action="ppaction://media"/>
          </p:cNvPr>
          <p:cNvPicPr>
            <a:picLocks noChangeAspect="1"/>
          </p:cNvPicPr>
          <p:nvPr>
            <a:videoFile r:link="rIdDemoVideo"/>
            <p:extLst>
              <p:ext uri="{DAA4B4D4-6D71-4841-9C94-3DE7FCFB7F9D}">
                <p14:media r:embed="rIdDemoMedia"/>
              </p:ext>
            </p:extLst>
          </p:nvPr>
        </p:nvPicPr>
        <p:blipFill>
          <a:blip r:embed="Rd251352073c544f2"/>
          <a:stretch/>
        </p:blipFill>
        <p:spPr>
          <a:xfrm>
            <a:off x="4402667" y="4000500"/>
            <a:ext cx="9482667" cy="5334000"/>
          </a:xfrm>
          <a:prstGeom prst="rect">
            <a:avLst/>
          </a:prstGeom>
        </p:spPr>
      </p:pic>
      <p:sp>
        <p:nvSpPr>
          <p:cNvPr id="12" name="text-7">
            <a:extLst>
              <a:ext uri="{FF2B5EF4-FFF2-40B4-BE49-F238E27FC236}">
                <ns2:creationId id="{4A3F1077-01DC-439C-B292-C54104028287}"/>
              </a:ext>
            </a:extLst>
          </p:cNvPr>
          <p:cNvSpPr>
            <a:spLocks noGrp="1"/>
          </p:cNvSpPr>
          <p:nvPr/>
        </p:nvSpPr>
        <p:spPr>
          <a:xfrm>
            <a:off x="2952750" y="9429750"/>
            <a:ext cx="12287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>
            <a:pPr algn="ctr">
              <a:def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2325" b="0">
                <a:solidFill>
                  <a:srgbClr val="5453FF"/>
                </a:solidFill>
                <a:latin typeface="Nanum Square"/>
                <a:ea typeface="Nanum Square"/>
                <a:cs typeface="Nanum Square"/>
                <a:hlinkClick r:id="Rc9c05b51dba04ffe"/>
              </a:rPr>
              <a:t>약 34초 시연 영상 재생</a:t>
            </a:r>
          </a:p>
        </p:txBody>
      </p:sp>
    </p:spTree>
    <p:extLst>
      <p:ext uri="{BB962C8B-B14F-4D97-AF65-F5344CB8AC3E}">
        <p14:creationId val="20139012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3aefd2496e6449f">
              <a:extLst>
                <a:ext uri="{96DAC541-7B7A-43D3-8B79-37D633B846F1}">
                  <asvg:svgBlip xmlns:asvg="http://schemas.microsoft.com/office/drawing/2016/SVG/main" r:embed="R6e69279d626f494b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445FA2AF-0C7F-47C4-8BCA-B8269E13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문제 해결 1 · IO placement 실패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508B7ED8-FA6A-4E8B-8F8A-B2C46B54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13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2C6DC180-44BE-4E5C-BC97-CD27A6D0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43375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문제: RTL 포트 통합 후 이전 XDC 이름이 남음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E68F4A8A-D2FB-44B0-9563-AB493313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95875"/>
            <a:ext cx="1314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[Place 30-374] IO placer failed to find a solution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AF97D742-6516-4E60-83AC-9AD1AAA2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96000"/>
            <a:ext cx="1314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7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제공된 XDC와 최상위 포트를 대조해 이름 불일치 확인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D0FD0FC5-29ED-4D21-9979-9B33EE0C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096125"/>
            <a:ext cx="1314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# 수정 전                         # 수정 후</a:t>
            </a:r>
          </a:p>
          <a:p xmlns:a="http://schemas.openxmlformats.org/drawingml/2006/main">
            <a: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[get_ports btnC]                 [get_ports {btn[0]}]</a:t>
            </a:r>
          </a:p>
          <a:p xmlns:a="http://schemas.openxmlformats.org/drawingml/2006/main">
            <a:pPr algn="l">
              <a:def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32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[get_ports {motor_pwm}]          [get_ports {pwm_out}]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8B0C62FA-BEA8-490B-A4BA-C4E3FA42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9239250"/>
            <a:ext cx="1314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24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조치: 7개 버튼과 모터 포트명 통일, 이전 제약 파일 정리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448cd7aedbb449c">
              <a:extLst>
                <a:ext uri="{96DAC541-7B7A-43D3-8B79-37D633B846F1}">
                  <asvg:svgBlip xmlns:asvg="http://schemas.microsoft.com/office/drawing/2016/SVG/main" r:embed="R1384dafb2cee48d9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36B90645-4DF1-4BAD-B15F-BA5A5CB6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문제 해결 1 · 구현 근거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833D4711-4DB3-40C8-8FBB-F6D66721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14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B35F35F9-A47F-4770-A5D4-8D671274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300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정적 핀 점검: 활성 44개 / 중복 0개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755F4D79-245E-443F-9457-39FCB753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1314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Design State : Fully Routed</a:t>
            </a:r>
          </a:p>
          <a:p xmlns:a="http://schemas.openxmlformats.org/drawingml/2006/main">
            <a: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Violations found: 0</a:t>
            </a:r>
          </a:p>
          <a:p xmlns:a="http://schemas.openxmlformats.org/drawingml/2006/main">
            <a: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WNS(ns)  3.484    TNS(ns)  0.000</a:t>
            </a:r>
          </a:p>
          <a:p xmlns:a="http://schemas.openxmlformats.org/drawingml/2006/main">
            <a:pPr algn="l">
              <a:def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75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All user specified timing constraints are met.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102162D0-1897-43DE-B10A-7546999E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905750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2026-10-28 14:50 개발 버전의 실제 리포트 발췌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915CF961-DC55-4467-9916-D48ACE1D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763000"/>
            <a:ext cx="1285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현재 최종 RTL 전체를 다시 측정한 수치가 아님</a:t>
            </a:r>
          </a:p>
          <a:p xmlns:a="http://schemas.openxmlformats.org/drawingml/2006/main">
            <a:pPr algn="l">
              <a:def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175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출력 지연 미지정 포트가 있어 외부 인터페이스 전체의 타이밍 보장은 별도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17509c3b204b20">
              <a:extLst>
                <a:ext uri="{96DAC541-7B7A-43D3-8B79-37D633B846F1}">
                  <asvg:svgBlip xmlns:asvg="http://schemas.microsoft.com/office/drawing/2016/SVG/main" r:embed="R3cb0e996dcca44b7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C5479A41-216E-4934-8947-E3CE869D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문제 해결 2 · 서보 미동작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B5FB6514-C71E-4184-9E6C-58DA9FEF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15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4B6CAEB2-2FEB-4C49-8613-FDE47A0D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43375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증상: 버튼 부저는 울리지만 서보가 움직이지 않음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83152FB5-D0C3-4CDB-A868-7DC6EED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34000"/>
            <a:ext cx="1285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점검   버튼·알림 경로와 서보 구동 경로를 나눠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수정   JB10/C16 신호 통일, 50Hz와 1/1.5ms 위치 펄스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확인   서보 교체 후 사용자 동작 확인, 실제 영상에 암 위치 변화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1C8881FB-343C-4E17-BD26-B3D0967E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429625"/>
            <a:ext cx="1285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27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증거: 실제 배선 사진, 서보 RTL, 시연 영상 초반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B9C6034C-3E5E-4E65-9CBC-DA00069A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382125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교체 전 장치의 정확한 고장 원인을 확정할 전압·전류 측정 자료는 없음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f79bfd083c42f6">
              <a:extLst>
                <a:ext uri="{96DAC541-7B7A-43D3-8B79-37D633B846F1}">
                  <asvg:svgBlip xmlns:asvg="http://schemas.microsoft.com/office/drawing/2016/SVG/main" r:embed="R7974fe499a1448d5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AF89141E-FA9C-431F-9DAC-0238EFEA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문제 해결 3 · 모터와 FND 통합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4BC5532C-38BC-4950-BE29-E4FAB153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16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DA17A87E-9D6B-4B6F-BEC3-0B752D68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43375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307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모터: PWM 듀티 코드에서 EN HIGH 고정으로 변경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009992D7-1952-4ACE-BFE8-18DDC655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43500"/>
            <a:ext cx="1314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assign motor_pwm=active;</a:t>
            </a:r>
          </a:p>
          <a:p xmlns:a="http://schemas.openxmlformats.org/drawingml/2006/main">
            <a: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assign in1=active &amp;&amp; !current_dir;</a:t>
            </a:r>
          </a:p>
          <a:p xmlns:a="http://schemas.openxmlformats.org/drawingml/2006/main">
            <a:pPr algn="l">
              <a:def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33334B"/>
                </a:solidFill>
                <a:latin typeface="Nanum Square"/>
                <a:ea typeface="Nanum Square"/>
                <a:cs typeface="Nanum Square"/>
              </a:rPr>
              <a:t>assign in2=active &amp;&amp; current_dir;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64A2F29A-31E3-47BA-B57B-1CABD55C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191375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40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방향 변경 전 5ms 정지. 약한 출력의 물리 원인은 미확정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E41E2362-49EC-46BF-A40D-18423B23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096250"/>
            <a:ext cx="1314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29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FND: 별도 tick 클록과 불완전 감도 목록 정리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12AB784F-CF75-4EB7-ADFA-303E598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858250"/>
            <a:ext cx="1285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posedge tick 사용을 clk + if(tick)으로 변경</a:t>
            </a:r>
          </a:p>
          <a:p xmlns:a="http://schemas.openxmlformats.org/drawingml/2006/main">
            <a:pPr algn="l">
              <a:def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175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always @(sel)을 always @*로 변경. 실제 원본·수정 코드 비교 보관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6E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57081A2-C31A-444F-BAFD-8683CA1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9258300"/>
          </a:xfrm>
          <a:custGeom xmlns:a="http://schemas.openxmlformats.org/drawingml/2006/main">
            <a:rect l="l" t="t" r="r" b="b"/>
            <a:pathLst>
              <a:path w="4426422" h="2676407">
                <a:moveTo>
                  <a:pt x="0" y="0"/>
                </a:moveTo>
                <a:lnTo>
                  <a:pt x="4426422" y="0"/>
                </a:lnTo>
                <a:lnTo>
                  <a:pt x="4426422" y="2676407"/>
                </a:lnTo>
                <a:lnTo>
                  <a:pt x="0" y="2676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839998F-6E2B-4951-A553-532C86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946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B5A3D8-95D6-4770-8D1C-3A96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1028700"/>
            <a:ext cx="16036641" cy="2682598"/>
          </a:xfrm>
          <a:custGeom xmlns:a="http://schemas.openxmlformats.org/drawingml/2006/main">
            <a:rect l="l" t="t" r="r" b="b"/>
            <a:pathLst>
              <a:path w="4426422" h="740449">
                <a:moveTo>
                  <a:pt x="0" y="0"/>
                </a:moveTo>
                <a:lnTo>
                  <a:pt x="4426422" y="0"/>
                </a:lnTo>
                <a:lnTo>
                  <a:pt x="4426422" y="740449"/>
                </a:lnTo>
                <a:lnTo>
                  <a:pt x="0" y="740449"/>
                </a:lnTo>
                <a:close/>
              </a:path>
            </a:pathLst>
          </a:custGeom>
          <a:solidFill xmlns:a="http://schemas.openxmlformats.org/drawingml/2006/main">
            <a:srgbClr val="EBEAFF"/>
          </a:solid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8C95D-F0D4-4691-9715-6945A54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680" y="821650"/>
            <a:ext cx="16036641" cy="28896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5454" tIns="85454" rIns="85454" bIns="85454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2759"/>
              </a:lnSpc>
              <a:spcBef>
                <a:spcPct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AD2688-99EC-48A1-9003-84EEF74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3533" y="430402"/>
            <a:ext cx="2318974" cy="936428"/>
          </a:xfrm>
          <a:custGeom xmlns:a="http://schemas.openxmlformats.org/drawingml/2006/main">
            <a:rect l="l" t="t" r="r" b="b"/>
            <a:pathLst>
              <a:path w="2318974" h="936428">
                <a:moveTo>
                  <a:pt x="0" y="0"/>
                </a:moveTo>
                <a:lnTo>
                  <a:pt x="2318974" y="0"/>
                </a:lnTo>
                <a:lnTo>
                  <a:pt x="2318974" y="936428"/>
                </a:lnTo>
                <a:lnTo>
                  <a:pt x="0" y="936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b6e1cce950f4d4b">
              <a:extLst>
                <a:ext uri="{96DAC541-7B7A-43D3-8B79-37D633B846F1}">
                  <asvg:svgBlip xmlns:asvg="http://schemas.microsoft.com/office/drawing/2016/SVG/main" r:embed="Rf3aacbf5dbde4fca"/>
                </a:ext>
              </a:extLst>
            </a:blip>
            <a:stretch>
              <a:fillRect l="-73801" t="0" r="-74378" b="-584265"/>
            </a:stretch>
          </a:blipFill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BFDA2992-3269-463F-8A48-DF52514C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428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defPPr>
            <a:lvl1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1pPr>
            <a:lvl2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2pPr>
            <a:lvl3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3pPr>
            <a:lvl4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4pPr>
            <a:lvl5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5pPr>
            <a:lvl6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6pPr>
            <a:lvl7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7pPr>
            <a:lvl8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8pPr>
            <a:lvl9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lvl9pPr>
          </a:lstStyle>
          <a:p xmlns:a="http://schemas.openxmlformats.org/drawingml/2006/main">
            <a:pPr algn="ctr">
              <a:def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defRPr>
            </a:pPr>
            <a:r>
              <a:rPr sz="5925" b="0">
                <a:solidFill>
                  <a:srgbClr val="242436"/>
                </a:solidFill>
                <a:latin typeface="210 도시락"/>
                <a:ea typeface="210 도시락"/>
                <a:cs typeface="210 도시락"/>
              </a:rPr>
              <a:t>구현 후기와 결론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A558E30C-380E-4498-9530-90544F36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18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rPr>
              <a:t>17</a:t>
            </a:r>
          </a:p>
        </p:txBody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88845E4B-D532-4363-A6B9-8B9B8249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13144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입력 처리와 제어 조건을 분리하고</a:t>
            </a:r>
          </a:p>
          <a:p xmlns:a="http://schemas.openxmlformats.org/drawingml/2006/main">
            <a:pPr algn="l">
              <a:def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defRPr>
            </a:pPr>
            <a:r>
              <a:rPr sz="4125" b="1">
                <a:solidFill>
                  <a:srgbClr val="5453FF"/>
                </a:solidFill>
                <a:latin typeface="Nanum Square"/>
                <a:ea typeface="Nanum Square"/>
                <a:cs typeface="Nanum Square"/>
              </a:rPr>
              <a:t>이벤트를 여러 출력에 일관되게 반영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CD8C33F0-7B7B-4D35-B7A8-F369D691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524625"/>
            <a:ext cx="12858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취소 시 시간 유지와 모터 차단을 각각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문 닫힘 후에는 수동 재시작으로 운전 조건 명확화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defRPr>
            </a:pPr>
            <a:r>
              <a:rPr sz="2550" b="0">
                <a:solidFill>
                  <a:srgbClr val="242436"/>
                </a:solidFill>
                <a:latin typeface="Nanum Square"/>
                <a:ea typeface="Nanum Square"/>
                <a:cs typeface="Nanum Square"/>
              </a:rPr>
              <a:t>다음 단계: 기본 동작 파형 확인, 로터리 바운스 측정, 문 위치 센서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6765D897-4E5F-4C7B-BFBE-BAEC8AB5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00"/>
            <a:ext cx="1257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defPPr>
            <a:lvl1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1pPr>
            <a:lvl2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2pPr>
            <a:lvl3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3pPr>
            <a:lvl4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4pPr>
            <a:lvl5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5pPr>
            <a:lvl6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6pPr>
            <a:lvl7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7pPr>
            <a:lvl8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8pPr>
            <a:lvl9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</a:defRPr>
            </a:pPr>
            <a:r>
              <a:rPr sz="2100" b="0">
                <a:solidFill>
                  <a:srgbClr val="666675"/>
                </a:solidFill>
                <a:latin typeface="Nanum Square"/>
                <a:ea typeface="Nanum Square"/>
                <a:cs typeface="Nanum Square"/>
                <a:hlinkClick xmlns:r="http://schemas.openxmlformats.org/officeDocument/2006/relationships" r:id="R47f87520bf694920"/>
              </a:rPr>
              <a:t>github.com/Minjee-Kwon/fpga-microwave</a:t>
            </a:r>
          </a:p>
        </p:txBody>
      </p:sp>
    </p:spTree>
    <p:extLst>
      <p:ext uri="{BB962C8B-B14F-4D97-AF65-F5344CB8AC3E}">
        <p14:creationId xmlns:p14="http://schemas.microsoft.com/office/powerpoint/2010/main" val="201390128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2026-10-28T08:07:39.6890000Z</dcterms:created>
  <dcterms:modified xsi:type="dcterms:W3CDTF">2026-10-28T08:07:39.6890000Z</dcterms:modified>
</coreProperties>
</file>